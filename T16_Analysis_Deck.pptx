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Teaching AI — institutional support</c:v>
                </c:pt>
              </c:strCache>
            </c:strRef>
          </c:tx>
          <c:spPr>
            <a:solidFill>
              <a:srgbClr val="F0C040"/>
            </a:solidFill>
            <a:ln w="31750" cap="flat">
              <a:solidFill>
                <a:srgbClr val="F0C04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0C040"/>
              </a:solidFill>
              <a:ln w="9525" cap="flat">
                <a:solidFill>
                  <a:srgbClr val="F0C04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2027*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  <c:pt idx="5">
                  <c:v>8.5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Research AI — governance</c:v>
                </c:pt>
              </c:strCache>
            </c:strRef>
          </c:tx>
          <c:spPr>
            <a:solidFill>
              <a:srgbClr val="F2524C"/>
            </a:solidFill>
            <a:ln w="31750" cap="flat">
              <a:solidFill>
                <a:srgbClr val="F252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524C"/>
              </a:solidFill>
              <a:ln w="9525" cap="flat">
                <a:solidFill>
                  <a:srgbClr val="F252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2027*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2.2</c:v>
                </c:pt>
                <c:pt idx="3">
                  <c:v>2.2</c:v>
                </c:pt>
                <c:pt idx="4">
                  <c:v>2.3</c:v>
                </c:pt>
                <c:pt idx="5">
                  <c:v>2.3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Adoption — advanced users</c:v>
                </c:pt>
              </c:strCache>
            </c:strRef>
          </c:tx>
          <c:spPr>
            <a:solidFill>
              <a:srgbClr val="5DE0CC"/>
            </a:solidFill>
            <a:ln w="31750" cap="flat">
              <a:solidFill>
                <a:srgbClr val="5DE0C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DE0CC"/>
              </a:solidFill>
              <a:ln w="9525" cap="flat">
                <a:solidFill>
                  <a:srgbClr val="5DE0C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2027*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7</c:v>
                </c:pt>
                <c:pt idx="4">
                  <c:v>9</c:v>
                </c:pt>
                <c:pt idx="5">
                  <c:v>9.5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Adoption — cautious majority</c:v>
                </c:pt>
              </c:strCache>
            </c:strRef>
          </c:tx>
          <c:spPr>
            <a:solidFill>
              <a:srgbClr val="3A8F82"/>
            </a:solidFill>
            <a:ln w="31750" cap="flat">
              <a:solidFill>
                <a:srgbClr val="3A8F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A8F82"/>
              </a:solidFill>
              <a:ln w="9525" cap="flat">
                <a:solidFill>
                  <a:srgbClr val="3A8F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  <c:pt idx="5">
                    <c:v>2027*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4.5</c:v>
                </c:pt>
                <c:pt idx="4">
                  <c:v>5</c:v>
                </c:pt>
                <c:pt idx="5">
                  <c:v>5.3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B3350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3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1B33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B3350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3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B2E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D7E1E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B1B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CONSULTING PRACTICUM · UT AUSTIN MCCOMBS · EGADE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Integration in Scientific Research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D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Deck — Day 2, August 4, 2026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3253B"/>
          </a:solidFill>
          <a:ln w="12700">
            <a:solidFill>
              <a:srgbClr val="1B33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46634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 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Dean of Scientific Research, Business School, Tec de Monterrey
</a:t>
            </a:r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Claudia Álvarez  ·  Faculty advisor: James Ritchie-Dunham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EGADE · MCP 2026 · Analysis Deck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School won the AI race in teaching but left research without a</a:t>
            </a:r>
            <a:endParaRPr lang="en-US" sz="2400" dirty="0"/>
          </a:p>
          <a:p>
            <a:pPr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strategy, and today two researcher groups need different responses.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3253B"/>
          </a:solidFill>
          <a:ln w="12700">
            <a:solidFill>
              <a:srgbClr val="1B33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468880"/>
            <a:ext cx="82296" cy="1188720"/>
          </a:xfrm>
          <a:prstGeom prst="roundRect">
            <a:avLst/>
          </a:prstGeom>
          <a:solidFill>
            <a:srgbClr val="5DE0C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3347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D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0" y="260604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2024 the School has invested heavily in AI for teaching — TECgpt, guidelines, CADI courses.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3253B"/>
          </a:solidFill>
          <a:ln w="12700">
            <a:solidFill>
              <a:srgbClr val="1B33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3840480"/>
            <a:ext cx="82296" cy="1188720"/>
          </a:xfrm>
          <a:prstGeom prst="roundRect">
            <a:avLst/>
          </a:prstGeom>
          <a:solidFill>
            <a:srgbClr val="F0C04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00507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397764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was left out of that effort. Today two groups of researchers face opposite barriers.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2120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3253B"/>
          </a:solidFill>
          <a:ln w="12700">
            <a:solidFill>
              <a:srgbClr val="1B33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5212080"/>
            <a:ext cx="82296" cy="1188720"/>
          </a:xfrm>
          <a:prstGeom prst="roundRect">
            <a:avLst/>
          </a:prstGeom>
          <a:solidFill>
            <a:srgbClr val="F2524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37667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534924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gap requires two parallel moves — a normative floor and an owned budget line — not one ethical framework.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EGADE · MCP 2026 · Analysis Deck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· BEHAVIOR-OVER-TIME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Since 2024, institutional support for AI surged in teaching while</a:t>
            </a:r>
            <a:endParaRPr lang="en-US" sz="2200" dirty="0"/>
          </a:p>
          <a:p>
            <a:pPr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research-AI governance stayed flat — and the gap keeps widening.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2377440"/>
          <a:ext cx="78638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95360" y="2377440"/>
            <a:ext cx="3017520" cy="3840480"/>
          </a:xfrm>
          <a:prstGeom prst="roundRect">
            <a:avLst>
              <a:gd name="adj" fmla="val 2424"/>
            </a:avLst>
          </a:prstGeom>
          <a:solidFill>
            <a:srgbClr val="13253B"/>
          </a:solidFill>
          <a:ln w="12700">
            <a:solidFill>
              <a:srgbClr val="1B33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869680" y="2606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86968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Accelerating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869680" y="3383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the three lines widens every year — it does not level off.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869680" y="45720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D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fork: the same institutional silence reads as permission to advanced users, and as risk to the cautious majority.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EGADE · MCP 2026 · Analysis Deck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· OPERATING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current operating model leaves research AI fully self-service —</a:t>
            </a:r>
            <a:endParaRPr lang="en-US" sz="2400" dirty="0"/>
          </a:p>
          <a:p>
            <a:pPr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owner, no channel, no budget line.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13253B"/>
          </a:solidFill>
          <a:ln w="12700">
            <a:solidFill>
              <a:srgbClr val="1B33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606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TIED TO THE CRUX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926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Activities &amp; Cost Structure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47472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drafting never extended to research. Spend is decentralized and invisible — each researcher pays $100–400 MXN/USD monthly across tools, plus separate API costs.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237744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13253B"/>
          </a:solidFill>
          <a:ln w="12700">
            <a:solidFill>
              <a:srgbClr val="1B33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606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UNDERDEVELOPED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37960" y="2926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Relationships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347472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relationship model exists for research AI — no owner, no channel, no point of contact. Everything that exists today (TECgpt, policy, CADI) was built for teaching.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EGADE · MCP 2026 · Analysis Deck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· FUNDAMENTAL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School's true goals include equitable AI access and agent-skilled</a:t>
            </a:r>
            <a:endParaRPr lang="en-US" sz="2200" dirty="0"/>
          </a:p>
          <a:p>
            <a:pPr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 — its current strategy addresses neither.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542032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13253B"/>
          </a:solidFill>
          <a:ln w="12700">
            <a:solidFill>
              <a:srgbClr val="1B33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542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research output (volume &amp; quality)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006840" y="2542032"/>
            <a:ext cx="2423160" cy="566928"/>
          </a:xfrm>
          <a:prstGeom prst="roundRect">
            <a:avLst>
              <a:gd name="adj" fmla="val 9677"/>
            </a:avLst>
          </a:prstGeom>
          <a:solidFill>
            <a:srgbClr val="0B1B2E"/>
          </a:solidFill>
          <a:ln w="15875">
            <a:solidFill>
              <a:srgbClr val="F0C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06840" y="254203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55264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13253B"/>
          </a:solidFill>
          <a:ln w="12700">
            <a:solidFill>
              <a:srgbClr val="1B3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25526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academic integrity &amp; reputational risk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006840" y="3255264"/>
            <a:ext cx="2423160" cy="566928"/>
          </a:xfrm>
          <a:prstGeom prst="roundRect">
            <a:avLst>
              <a:gd name="adj" fmla="val 9677"/>
            </a:avLst>
          </a:prstGeom>
          <a:solidFill>
            <a:srgbClr val="0B1B2E"/>
          </a:solidFill>
          <a:ln w="15875">
            <a:solidFill>
              <a:srgbClr val="F0C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06840" y="325526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68496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13253B"/>
          </a:solidFill>
          <a:ln w="12700">
            <a:solidFill>
              <a:srgbClr val="1B33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968496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Equitable AI access, independent of personal budget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006840" y="3968496"/>
            <a:ext cx="2423160" cy="566928"/>
          </a:xfrm>
          <a:prstGeom prst="roundRect">
            <a:avLst>
              <a:gd name="adj" fmla="val 9677"/>
            </a:avLst>
          </a:prstGeom>
          <a:solidFill>
            <a:srgbClr val="0B1B2E"/>
          </a:solidFill>
          <a:ln w="15875">
            <a:solidFill>
              <a:srgbClr val="F252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396849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addressed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681728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13253B"/>
          </a:solidFill>
          <a:ln w="12700">
            <a:solidFill>
              <a:srgbClr val="1B33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8172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faculty technical capability in agentic AI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06840" y="4681728"/>
            <a:ext cx="2423160" cy="566928"/>
          </a:xfrm>
          <a:prstGeom prst="roundRect">
            <a:avLst>
              <a:gd name="adj" fmla="val 9677"/>
            </a:avLst>
          </a:prstGeom>
          <a:solidFill>
            <a:srgbClr val="0B1B2E"/>
          </a:solidFill>
          <a:ln w="15875">
            <a:solidFill>
              <a:srgbClr val="F252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6840" y="468172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addressed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13253B"/>
          </a:solidFill>
          <a:ln w="12700">
            <a:solidFill>
              <a:srgbClr val="1B33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39496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institutional leadership in AI adoption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006840" y="5394960"/>
            <a:ext cx="2423160" cy="566928"/>
          </a:xfrm>
          <a:prstGeom prst="roundRect">
            <a:avLst>
              <a:gd name="adj" fmla="val 9677"/>
            </a:avLst>
          </a:prstGeom>
          <a:solidFill>
            <a:srgbClr val="0B1B2E"/>
          </a:solidFill>
          <a:ln w="15875">
            <a:solidFill>
              <a:srgbClr val="F0C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06840" y="539496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EGADE · MCP 2026 · Analysis Deck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· STRATEGY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current strategy is strong for teaching AI and weak across every</a:t>
            </a:r>
            <a:endParaRPr lang="en-US" sz="2400" dirty="0"/>
          </a:p>
          <a:p>
            <a:pPr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 that matters for research.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13253B"/>
          </a:solidFill>
          <a:ln w="12700">
            <a:solidFill>
              <a:srgbClr val="1B33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69748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Explicitness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explicit research-AI strategy exists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246888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13253B"/>
          </a:solidFill>
          <a:ln w="12700">
            <a:solidFill>
              <a:srgbClr val="1B33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269748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3429000" y="37033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4160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1880" y="46634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and research gaps recur, unresourced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246888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13253B"/>
          </a:solidFill>
          <a:ln w="12700">
            <a:solidFill>
              <a:srgbClr val="1B33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269748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0C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6309360" y="37033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4160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Crux-alignment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46634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ethics framework alone closes only half the crux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89720" y="246888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13253B"/>
          </a:solidFill>
          <a:ln w="12700">
            <a:solidFill>
              <a:srgbClr val="1B33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89720" y="269748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25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9189720" y="37033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72600" y="4160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sufficiency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72600" y="46634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research-AI budget line; researchers self-fund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EGADE · MCP 2026 · Analysis Deck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crux is a split adoption curve.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13253B"/>
          </a:solidFill>
          <a:ln w="12700">
            <a:solidFill>
              <a:srgbClr val="5DE0C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697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D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USERS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971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Jairo, Santiago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52044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resolved their own ethical boundary, without institutional guidance. Held back by budget and agent-skills gaps, not ethics.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24688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13253B"/>
          </a:solidFill>
          <a:ln w="12700">
            <a:solidFill>
              <a:srgbClr val="F2524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697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CAUTIOUS MAJORITY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37960" y="2971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researchers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352044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waiting for a shared normative floor that doesn't exist yet. A single ethical framework would move only this group.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EGADE · MCP 2026 · Analysis Deck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OF THE CRUX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forces feed the split curve — the leading hypothesis is their</a:t>
            </a:r>
            <a:endParaRPr lang="en-US" sz="2200" dirty="0"/>
          </a:p>
          <a:p>
            <a:pPr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interaction, not any single one.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657600" cy="3566160"/>
          </a:xfrm>
          <a:prstGeom prst="roundRect">
            <a:avLst>
              <a:gd name="adj" fmla="val 2051"/>
            </a:avLst>
          </a:prstGeom>
          <a:solidFill>
            <a:srgbClr val="13253B"/>
          </a:solidFill>
          <a:ln w="12700">
            <a:solidFill>
              <a:srgbClr val="1B33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788920"/>
            <a:ext cx="502920" cy="502920"/>
          </a:xfrm>
          <a:prstGeom prst="ellipse">
            <a:avLst/>
          </a:prstGeom>
          <a:solidFill>
            <a:srgbClr val="0B1B2E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Normative vacuum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3108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back the cautious majority — no shared ethical floor for research.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2514600"/>
            <a:ext cx="3657600" cy="3566160"/>
          </a:xfrm>
          <a:prstGeom prst="roundRect">
            <a:avLst>
              <a:gd name="adj" fmla="val 2051"/>
            </a:avLst>
          </a:prstGeom>
          <a:solidFill>
            <a:srgbClr val="13253B"/>
          </a:solidFill>
          <a:ln w="12700">
            <a:solidFill>
              <a:srgbClr val="1B33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788920"/>
            <a:ext cx="502920" cy="502920"/>
          </a:xfrm>
          <a:prstGeom prst="ellipse">
            <a:avLst/>
          </a:prstGeom>
          <a:solidFill>
            <a:srgbClr val="0B1B2E"/>
          </a:solidFill>
          <a:ln w="19050">
            <a:solidFill>
              <a:srgbClr val="5DE0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3429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&amp; technical skills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4069080"/>
            <a:ext cx="3108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back advanced users. Confirmed with Tier-1 + Tier-2 evidence: Santiago's testimony and KPI 7.1 — external research funding at $9M MXN vs. a 2030 target of $25M.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21040" y="2514600"/>
            <a:ext cx="3657600" cy="3566160"/>
          </a:xfrm>
          <a:prstGeom prst="roundRect">
            <a:avLst>
              <a:gd name="adj" fmla="val 2051"/>
            </a:avLst>
          </a:prstGeom>
          <a:solidFill>
            <a:srgbClr val="13253B"/>
          </a:solidFill>
          <a:ln w="12700">
            <a:solidFill>
              <a:srgbClr val="1B33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0" y="2788920"/>
            <a:ext cx="502920" cy="502920"/>
          </a:xfrm>
          <a:prstGeom prst="ellipse">
            <a:avLst/>
          </a:prstGeom>
          <a:solidFill>
            <a:srgbClr val="0B1B2E"/>
          </a:solidFill>
          <a:ln w="19050">
            <a:solidFill>
              <a:srgbClr val="F252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95360" y="3429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"Teaching school" culture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95360" y="4069080"/>
            <a:ext cx="3108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teaching/research split, plus the emerging "Shadow AI" data-leakage risk.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EGADE · MCP 2026 · Analysis Deck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THEME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minimal normative floor for research would give the cautious</a:t>
            </a:r>
            <a:endParaRPr lang="en-US" sz="2200" dirty="0"/>
          </a:p>
          <a:p>
            <a:pPr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majority the institutional permission it currently lacks.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6974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3253B"/>
          </a:solidFill>
          <a:ln w="12700">
            <a:solidFill>
              <a:srgbClr val="1B33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6974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08960" y="2788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academic integrity policy, currently teaching-centered, into a minimal normative floor for research.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3253B"/>
          </a:solidFill>
          <a:ln w="12700">
            <a:solidFill>
              <a:srgbClr val="1B33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9319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SERVES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40233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cautious majority, currently waiting for institutional permission.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3253B"/>
          </a:solidFill>
          <a:ln w="12700">
            <a:solidFill>
              <a:srgbClr val="1B33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1663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STEP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52578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what the teaching policy already covers, and what it's missing for research.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EGADE · MCP 2026 · Analysis Deck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THEME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dedicated budget line and agent-skills training would unlock</a:t>
            </a:r>
            <a:endParaRPr lang="en-US" sz="2200" dirty="0"/>
          </a:p>
          <a:p>
            <a:pPr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researchers, with no need for additional ethics guidance.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6974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3253B"/>
          </a:solidFill>
          <a:ln w="12700">
            <a:solidFill>
              <a:srgbClr val="1B33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6974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08960" y="2788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research-AI budget line plus an agent-skills training program.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3253B"/>
          </a:solidFill>
          <a:ln w="12700">
            <a:solidFill>
              <a:srgbClr val="1B33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9319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SERVES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40233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researchers currently paying out of pocket (Santiago: ~$400 MXN/mo + ~$50 USD API on one project alone).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3253B"/>
          </a:solidFill>
          <a:ln w="12700">
            <a:solidFill>
              <a:srgbClr val="1B33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1663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STEP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52578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the real aggregate cost of current "Shadow AI" spend as the business case for the budget line.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EGADE · MCP 2026 · Analysis Deck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THEME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an institutional owner for research AI would close the</a:t>
            </a:r>
            <a:endParaRPr lang="en-US" sz="2200" dirty="0"/>
          </a:p>
          <a:p>
            <a:pPr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"Shadow AI" risk and give both groups a channel that doesn't exist today.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6974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3253B"/>
          </a:solidFill>
          <a:ln w="12700">
            <a:solidFill>
              <a:srgbClr val="1B33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6974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08960" y="27889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 institutional owner for research AI, currently absent from the operating model.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3253B"/>
          </a:solidFill>
          <a:ln w="12700">
            <a:solidFill>
              <a:srgbClr val="1B33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9319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SERVES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40233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researcher groups — advanced and cautious — who today have no formal channel.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3253B"/>
          </a:solidFill>
          <a:ln w="12700">
            <a:solidFill>
              <a:srgbClr val="1B33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1663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STEP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52578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whether the role sits inside the existing Academic Integrity structure or is created new.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EGADE · MCP 2026 · Analysis Deck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QUESTIONS, RISKS &amp;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recommendation cannot be finalized until the Dean and Group</a:t>
            </a:r>
            <a:endParaRPr lang="en-US" sz="2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Directors are interviewed.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3253B"/>
          </a:solidFill>
          <a:ln w="12700">
            <a:solidFill>
              <a:srgbClr val="F2524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743200"/>
            <a:ext cx="82296" cy="1188720"/>
          </a:xfrm>
          <a:prstGeom prst="roundRect">
            <a:avLst/>
          </a:prstGeom>
          <a:solidFill>
            <a:srgbClr val="F2524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OPEN 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28803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institutional inaction political, managerial, or capacity-driven? Only the Dean and Group Directors can answer 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13253B"/>
          </a:solidFill>
          <a:ln w="12700">
            <a:solidFill>
              <a:srgbClr val="1B33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4297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IF NOT CLOSED BEFORE DAY 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46634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Deck (T17) would have to rest on researcher evidence alone, without the client's perspective.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17920" y="41148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13253B"/>
          </a:solidFill>
          <a:ln w="12700">
            <a:solidFill>
              <a:srgbClr val="1B33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4297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D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46634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the Dean and Group Director interviews before committing to a recommendation.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EGADE · MCP 2026 · Analysis Deck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2026-08-04T17:28:26Z</dcterms:created>
  <dcterms:modified xsi:type="dcterms:W3CDTF">2026-08-04T17:28:26Z</dcterms:modified>
</cp:coreProperties>
</file>